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10" Type="http://schemas.openxmlformats.org/officeDocument/2006/relationships/image" Target="../media/image25.png"/><Relationship Id="rId9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Relationship Id="rId7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743223"/>
            <a:ext cx="9001125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When Tables Finally Started </a:t>
            </a:r>
            <a:r>
              <a:rPr b="1" i="0" lang="en-US" sz="4200" u="none" cap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Making Sense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107084"/>
            <a:ext cx="11029950" cy="69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A Deep Dive into Large Language Models, Data Querying, and the Shift from SQL to Natural Language.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29322" y="4619476"/>
            <a:ext cx="4933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55555"/>
                </a:solidFill>
              </a:rPr>
              <a:t>VIJAYSHANKAR MISHRA </a:t>
            </a:r>
            <a:r>
              <a:rPr b="1" i="0" lang="en-US" sz="15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| CMPE 255: Data Mining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56295"/>
            <a:ext cx="5229225" cy="4911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56295"/>
            <a:ext cx="5229225" cy="491117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71550" y="2912864"/>
            <a:ext cx="46705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4CC"/>
                </a:solidFill>
                <a:latin typeface="Arial"/>
                <a:ea typeface="Arial"/>
                <a:cs typeface="Arial"/>
                <a:sym typeface="Arial"/>
              </a:rPr>
              <a:t>The Structured Silo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71550" y="3560564"/>
            <a:ext cx="44481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Organizations store vast amounts of knowledge in SQL databases and Data Warehouses. This data is structured, rigid, and requires specialized languages (SQL) to access.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72275" y="2745283"/>
            <a:ext cx="46705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4CC"/>
                </a:solidFill>
                <a:latin typeface="Arial"/>
                <a:ea typeface="Arial"/>
                <a:cs typeface="Arial"/>
                <a:sym typeface="Arial"/>
              </a:rPr>
              <a:t>The Human Disconnect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3392983"/>
            <a:ext cx="4448175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Humans think and ask questions in Natural Language (e.g., "Who are our top customers?"). Bridging this gap has traditionally required manual translation by data analysts, creating a massive bottleneck in data exploration.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The Data Mining </a:t>
            </a:r>
            <a:r>
              <a:rPr b="1" i="0" lang="en-US" sz="3150" u="none" cap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Bottleneck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81025" y="1013370"/>
            <a:ext cx="1102995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496152" y="2508425"/>
            <a:ext cx="5640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The Evolution of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Text-to-SQL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420564" y="4290119"/>
            <a:ext cx="36924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From fragile rules to reasoning engines.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90525"/>
            <a:ext cx="5324475" cy="607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81025" y="852041"/>
            <a:ext cx="5590698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3150" u="none" cap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581025" y="1474886"/>
            <a:ext cx="5324475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81025" y="1941611"/>
            <a:ext cx="53244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Modern Text-to-SQL isn't just translation; it's a multi-step pipeline powered by LLMs.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3031033"/>
            <a:ext cx="53244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The system retrieves relevant table schemas, injects them into the prompt (Context), and uses the LLM's reasoning capabilities to generate syntactically correct SQL.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4790777"/>
            <a:ext cx="53244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Key Concept: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RAG (Retrieval Augmented Generation) ensures the model only sees relevant tables, reducing hallucinations.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047750"/>
            <a:ext cx="5114925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68685"/>
            <a:ext cx="52292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581025" y="2356842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The hardest part of Text-to-SQL is </a:t>
            </a:r>
            <a:r>
              <a:rPr b="1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Schema Linking</a:t>
            </a: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: connecting vague human words to precise database columns.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81025" y="4651771"/>
            <a:ext cx="5229225" cy="10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The model must infer that "Revenue" corresponds to sales_amt based on context and metadata, often using Foreign Key relationships to join tables correctly.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914400" y="3571875"/>
            <a:ext cx="48958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User says: "Revenue"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914400" y="4097535"/>
            <a:ext cx="4895850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Database has: sales_amt, gross_income, total_rev</a:t>
            </a:r>
            <a:endParaRPr/>
          </a:p>
        </p:txBody>
      </p:sp>
      <p:pic>
        <p:nvPicPr>
          <p:cNvPr descr="image.png" id="130" name="Google Shape;1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1973460"/>
            <a:ext cx="5019675" cy="40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81025" y="357187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44C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81025" y="409753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44C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The Core Challenge: </a:t>
            </a:r>
            <a:r>
              <a:rPr b="1" i="0" lang="en-US" sz="3150" u="none" cap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Schema Linking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81025" y="1013370"/>
            <a:ext cx="1102995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30809"/>
            <a:ext cx="3486150" cy="3162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30809"/>
            <a:ext cx="3486150" cy="3162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30809"/>
            <a:ext cx="3486150" cy="3162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72608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876300" y="3488084"/>
            <a:ext cx="16473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4CC"/>
                </a:solidFill>
                <a:latin typeface="Arial"/>
                <a:ea typeface="Arial"/>
                <a:cs typeface="Arial"/>
                <a:sym typeface="Arial"/>
              </a:rPr>
              <a:t>Foreign Keys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876300" y="3926234"/>
            <a:ext cx="28956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Ablation studies show that explicitly providing Foreign Key constraints in the prompt boosts performance by ~15%. It helps the model understand how to JOIN tables.</a:t>
            </a:r>
            <a:endParaRPr/>
          </a:p>
        </p:txBody>
      </p:sp>
      <p:pic>
        <p:nvPicPr>
          <p:cNvPr descr="image.png" id="146" name="Google Shape;14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8200" y="272608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4648200" y="3488084"/>
            <a:ext cx="209526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4CC"/>
                </a:solidFill>
                <a:latin typeface="Arial"/>
                <a:ea typeface="Arial"/>
                <a:cs typeface="Arial"/>
                <a:sym typeface="Arial"/>
              </a:rPr>
              <a:t>Schema Filtering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4648200" y="3926234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Feeding the entire database schema confuses the LLM. "Schema Linking" pre-steps that filter out irrelevant tables are crucial for accuracy.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0100" y="272608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8420100" y="3488084"/>
            <a:ext cx="21096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4CC"/>
                </a:solidFill>
                <a:latin typeface="Arial"/>
                <a:ea typeface="Arial"/>
                <a:cs typeface="Arial"/>
                <a:sym typeface="Arial"/>
              </a:rPr>
              <a:t>Reasoning Steps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420100" y="3926234"/>
            <a:ext cx="28956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Chain-of-Thought (CoT) prompting, where the model explains its logic before writing SQL, significantly reduces logical errors in complex queries.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750" y="289753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33937" y="289753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62975" y="2897534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Ablation Insights: </a:t>
            </a:r>
            <a:r>
              <a:rPr b="1" i="0" lang="en-US" sz="3150" u="none" cap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What Matters?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81025" y="1013370"/>
            <a:ext cx="1102995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56295"/>
            <a:ext cx="11029950" cy="491117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81025" y="4667250"/>
            <a:ext cx="11029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While LLMs have "solved" simple queries (Spider 1.0), they struggle massively with real-world enterprise workflows (Spider 2.0) involving massive schemas and nested logic.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The Reality Check: </a:t>
            </a:r>
            <a:r>
              <a:rPr b="1" i="0" lang="en-US" sz="3150" u="none" cap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Spider 1.0 vs 2.0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81025" y="1013370"/>
            <a:ext cx="1102995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90525"/>
            <a:ext cx="5324475" cy="607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581025" y="810071"/>
            <a:ext cx="5590698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Why is Enterprise </a:t>
            </a:r>
            <a:r>
              <a:rPr b="1" i="0" lang="en-US" sz="3150" u="none" cap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So Hard?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81025" y="1432917"/>
            <a:ext cx="5324475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81025" y="1899642"/>
            <a:ext cx="53244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Enterprise data mining isn't just about `SELECT * FROM users`. It involves: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81025" y="2989064"/>
            <a:ext cx="53244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1. Scale: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Databases with 3000+ columns. The schema alone exceeds the LLM's context window.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81025" y="4078485"/>
            <a:ext cx="53244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2. Ambiguity: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"Churn" might be calculated differently by Sales vs. Marketing teams.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81025" y="5167907"/>
            <a:ext cx="53244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3. Dialects: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Complex Snowflake or BigQuery specific syntax that standard training data misses.</a:t>
            </a:r>
            <a:endParaRPr/>
          </a:p>
        </p:txBody>
      </p:sp>
      <p:pic>
        <p:nvPicPr>
          <p:cNvPr descr="image.png" id="178" name="Google Shape;17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047750"/>
            <a:ext cx="5114925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90525"/>
            <a:ext cx="5324475" cy="607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581025" y="947291"/>
            <a:ext cx="5590698" cy="9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Future: </a:t>
            </a:r>
            <a:r>
              <a:rPr b="1" i="0" lang="en-US" sz="3150" u="none" cap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Automated Data Agents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581025" y="2050107"/>
            <a:ext cx="5324475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81025" y="2516832"/>
            <a:ext cx="53244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The future isn't just querying; it's full-stack Data Mining Agents.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81025" y="3606254"/>
            <a:ext cx="53244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Instead of just SQL, next-gen systems (Spider 2.0 focus) act as autonomous agents that can: </a:t>
            </a:r>
            <a:r>
              <a:rPr b="1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Clean data</a:t>
            </a: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Run Python for advanced stats</a:t>
            </a: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Generate Dashboards</a:t>
            </a: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automatically.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81025" y="5365998"/>
            <a:ext cx="5324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 are moving from "Text-to-SQL" to "Text-to-Analysis".</a:t>
            </a:r>
            <a:endParaRPr/>
          </a:p>
        </p:txBody>
      </p:sp>
      <p:pic>
        <p:nvPicPr>
          <p:cNvPr descr="image.png" id="190" name="Google Shape;19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047750"/>
            <a:ext cx="5114925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56295"/>
            <a:ext cx="5229225" cy="4911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56295"/>
            <a:ext cx="5229225" cy="491117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971550" y="2912864"/>
            <a:ext cx="46705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4CC"/>
                </a:solidFill>
                <a:latin typeface="Arial"/>
                <a:ea typeface="Arial"/>
                <a:cs typeface="Arial"/>
                <a:sym typeface="Arial"/>
              </a:rPr>
              <a:t>The Breakthrough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971550" y="3560564"/>
            <a:ext cx="44481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LLMs have fundamentally changed how we interact with data, effectively acting as a universal compiler for human intent into machine code (SQL).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6772275" y="2912864"/>
            <a:ext cx="46705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4CC"/>
                </a:solidFill>
                <a:latin typeface="Arial"/>
                <a:ea typeface="Arial"/>
                <a:cs typeface="Arial"/>
                <a:sym typeface="Arial"/>
              </a:rPr>
              <a:t>The Frontier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772275" y="3560564"/>
            <a:ext cx="44481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While basic translation is robust, the frontier lies in handling the messy reality of enterprise data—requiring better reasoning, context management, and agentic workflows.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Summary &amp; </a:t>
            </a:r>
            <a:r>
              <a:rPr b="1" i="0" lang="en-US" sz="3150" u="none" cap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581025" y="1013370"/>
            <a:ext cx="1102995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609082"/>
            <a:ext cx="4436566" cy="193714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598724" y="1311771"/>
            <a:ext cx="4401018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1465510" y="2683371"/>
            <a:ext cx="266759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Thank you for your attention.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771525" y="4018657"/>
            <a:ext cx="4055566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References: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771525" y="4563367"/>
            <a:ext cx="405556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1. "A Survey of Text-to-SQL in the Era of LLMs" (arXiv 2024)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771525" y="4959548"/>
            <a:ext cx="405556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2. Spider 2.0 Benchmark Results (2024)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/>
          <p:nvPr/>
        </p:nvSpPr>
        <p:spPr>
          <a:xfrm>
            <a:off x="581025" y="322227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581025" y="400704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581025" y="47918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964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1676400" y="258990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https://miro.medium.com/0*7OaGfO2DctgswevJ.jpeg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1676400" y="283562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pub.towardsai.net</a:t>
            </a:r>
            <a:endParaRPr/>
          </a:p>
        </p:txBody>
      </p:sp>
      <p:pic>
        <p:nvPicPr>
          <p:cNvPr descr="image.png" id="226" name="Google Shape;22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3812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1676400" y="337467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https://dbschema.com/blog/design/indexes-foreign-keys/foreign-key-2.png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1676400" y="362039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dbschema.com</a:t>
            </a:r>
            <a:endParaRPr/>
          </a:p>
        </p:txBody>
      </p:sp>
      <p:pic>
        <p:nvPicPr>
          <p:cNvPr descr="image.png" id="229" name="Google Shape;22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659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1676400" y="415944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https://cdn.nulab.com/learn-wp/app/uploads/2022/02/21193704/er-diagram-for-railway-reservation-system.png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1676400" y="440516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nulab.com</a:t>
            </a:r>
            <a:endParaRPr/>
          </a:p>
        </p:txBody>
      </p:sp>
      <p:pic>
        <p:nvPicPr>
          <p:cNvPr descr="image.png" id="232" name="Google Shape;23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9507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/>
          <p:nvPr/>
        </p:nvSpPr>
        <p:spPr>
          <a:xfrm>
            <a:off x="1676400" y="4944219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https://cdn.dribbble.com/userupload/42922211/file/original-f64607d002f236d28a28f632c2f6b403.png?resize=752x&amp;vertical=center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1676400" y="518993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dribbble.com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Image Sources</a:t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581025" y="1013370"/>
            <a:ext cx="1102995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